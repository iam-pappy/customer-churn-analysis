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fola\Downloads\WA_Fn-UseC_-Telco-Customer-Churn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fola\Downloads\WA_Fn-UseC_-Telco-Customer-Churn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afola\Downloads\WA_Fn-UseC_-Telco-Customer-Churn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afola\Downloads\WA_Fn-UseC_-Telco-Customer-Churn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afola\Downloads\WA_Fn-UseC_-Telco-Customer-Churn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[WA_Fn-UseC_-Telco-Customer-Churn.xlsx]Churn Breakdown by Contract!PivotTable2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rPr>
              <a:t>Churn by Contract Type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endParaRPr>
          </a:p>
        </c:rich>
      </c:tx>
      <c:layout>
        <c:manualLayout>
          <c:xMode val="edge"/>
          <c:yMode val="edge"/>
          <c:x val="0.382631578947368"/>
          <c:y val="0.033323415650104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264135702746"/>
          <c:y val="0.0790322580645161"/>
          <c:w val="0.751352988691438"/>
          <c:h val="0.856152073732719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'[WA_Fn-UseC_-Telco-Customer-Churn.xlsx]Churn Breakdown by Contract'!$B$3:$B$4</c:f>
              <c:strCache>
                <c:ptCount val="1"/>
                <c:pt idx="0">
                  <c:v>No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'[WA_Fn-UseC_-Telco-Customer-Churn.xlsx]Churn Breakdown by Contract'!$A$5:$A$8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'[WA_Fn-UseC_-Telco-Customer-Churn.xlsx]Churn Breakdown by Contract'!$B$5:$B$8</c:f>
              <c:numCache>
                <c:formatCode>General</c:formatCode>
                <c:ptCount val="3"/>
                <c:pt idx="0">
                  <c:v>2220</c:v>
                </c:pt>
                <c:pt idx="1">
                  <c:v>1307</c:v>
                </c:pt>
                <c:pt idx="2">
                  <c:v>1647</c:v>
                </c:pt>
              </c:numCache>
            </c:numRef>
          </c:val>
        </c:ser>
        <c:ser>
          <c:idx val="1"/>
          <c:order val="1"/>
          <c:tx>
            <c:strRef>
              <c:f>'[WA_Fn-UseC_-Telco-Customer-Churn.xlsx]Churn Breakdown by Contract'!$C$3:$C$4</c:f>
              <c:strCache>
                <c:ptCount val="1"/>
                <c:pt idx="0">
                  <c:v>Yes</c:v>
                </c:pt>
              </c:strCache>
            </c:strRef>
          </c:tx>
          <c:spPr>
            <a:gradFill>
              <a:gsLst>
                <a:gs pos="0">
                  <a:schemeClr val="accent2">
                    <a:lumMod val="40000"/>
                    <a:lumOff val="60000"/>
                  </a:schemeClr>
                </a:gs>
                <a:gs pos="90000">
                  <a:schemeClr val="accent2"/>
                </a:gs>
              </a:gsLst>
              <a:lin ang="10800000" scaled="0"/>
            </a:gradFill>
            <a:ln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2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'[WA_Fn-UseC_-Telco-Customer-Churn.xlsx]Churn Breakdown by Contract'!$A$5:$A$8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'[WA_Fn-UseC_-Telco-Customer-Churn.xlsx]Churn Breakdown by Contract'!$C$5:$C$8</c:f>
              <c:numCache>
                <c:formatCode>General</c:formatCode>
                <c:ptCount val="3"/>
                <c:pt idx="0">
                  <c:v>1655</c:v>
                </c:pt>
                <c:pt idx="1">
                  <c:v>166</c:v>
                </c:pt>
                <c:pt idx="2">
                  <c:v>48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100"/>
        <c:axId val="191666450"/>
        <c:axId val="198165523"/>
      </c:barChart>
      <c:catAx>
        <c:axId val="19166645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198165523"/>
        <c:crosses val="autoZero"/>
        <c:auto val="1"/>
        <c:lblAlgn val="ctr"/>
        <c:lblOffset val="100"/>
        <c:noMultiLvlLbl val="0"/>
      </c:catAx>
      <c:valAx>
        <c:axId val="1981655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19166645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fea1774-f979-44ad-9d4a-d4214755fe46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>
          <a:latin typeface="Lato" charset="0"/>
          <a:ea typeface="Lato" charset="0"/>
          <a:cs typeface="Lato" charset="0"/>
          <a:sym typeface="Lato" charset="0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[WA_Fn-UseC_-Telco-Customer-Churn.xlsx]Churn by Payment Method!PivotTable3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rPr>
              <a:t>Churn by Payment Method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endParaRPr>
          </a:p>
        </c:rich>
      </c:tx>
      <c:layout/>
      <c:overlay val="1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309366430942416"/>
          <c:y val="0.149442538593482"/>
          <c:w val="0.521489392408717"/>
          <c:h val="0.74686963979416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'[WA_Fn-UseC_-Telco-Customer-Churn.xlsx]Churn by Payment Method'!$B$3:$B$4</c:f>
              <c:strCache>
                <c:ptCount val="1"/>
                <c:pt idx="0">
                  <c:v>Yes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ln>
                      <a:noFill/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'[WA_Fn-UseC_-Telco-Customer-Churn.xlsx]Churn by Payment Method'!$A$5:$A$9</c:f>
              <c:strCache>
                <c:ptCount val="4"/>
                <c:pt idx="0">
                  <c:v>Bank transfer (automatic)</c:v>
                </c:pt>
                <c:pt idx="1">
                  <c:v>Credit card (automatic)</c:v>
                </c:pt>
                <c:pt idx="2">
                  <c:v>Electronic check</c:v>
                </c:pt>
                <c:pt idx="3">
                  <c:v>Mailed check</c:v>
                </c:pt>
              </c:strCache>
            </c:strRef>
          </c:cat>
          <c:val>
            <c:numRef>
              <c:f>'[WA_Fn-UseC_-Telco-Customer-Churn.xlsx]Churn by Payment Method'!$B$5:$B$9</c:f>
              <c:numCache>
                <c:formatCode>General</c:formatCode>
                <c:ptCount val="4"/>
                <c:pt idx="0">
                  <c:v>258</c:v>
                </c:pt>
                <c:pt idx="1">
                  <c:v>232</c:v>
                </c:pt>
                <c:pt idx="2">
                  <c:v>1071</c:v>
                </c:pt>
                <c:pt idx="3">
                  <c:v>308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681122287"/>
        <c:axId val="831522533"/>
      </c:barChart>
      <c:catAx>
        <c:axId val="681122287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831522533"/>
        <c:crosses val="autoZero"/>
        <c:auto val="1"/>
        <c:lblAlgn val="ctr"/>
        <c:lblOffset val="100"/>
        <c:noMultiLvlLbl val="0"/>
      </c:catAx>
      <c:valAx>
        <c:axId val="83152253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6811222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d35abb3-6acc-456a-b478-9c5d014ed763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 rot="0" anchor="t" anchorCtr="0"/>
    <a:lstStyle/>
    <a:p>
      <a:pPr>
        <a:defRPr lang="en-US">
          <a:ln>
            <a:noFill/>
          </a:ln>
          <a:latin typeface="Lato" charset="0"/>
          <a:ea typeface="Lato" charset="0"/>
          <a:cs typeface="Lato" charset="0"/>
          <a:sym typeface="Lato" charset="0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[WA_Fn-UseC_-Telco-Customer-Churn.xlsx]Churn Breakdown by Tenure!PivotTable4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rPr>
              <a:t>Churn by Tenure Group 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83221476510067"/>
          <c:y val="0.0791792006875806"/>
          <c:w val="0.882992170022371"/>
          <c:h val="0.8658573270305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'[WA_Fn-UseC_-Telco-Customer-Churn.xlsx]Churn Breakdown by Tenure'!$B$3:$B$4</c:f>
              <c:strCache>
                <c:ptCount val="1"/>
                <c:pt idx="0">
                  <c:v>Yes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'[WA_Fn-UseC_-Telco-Customer-Churn.xlsx]Churn Breakdown by Tenure'!$A$5:$A$8</c:f>
              <c:strCache>
                <c:ptCount val="3"/>
                <c:pt idx="0">
                  <c:v>0-6 months</c:v>
                </c:pt>
                <c:pt idx="1">
                  <c:v>2+ years</c:v>
                </c:pt>
                <c:pt idx="2">
                  <c:v>6-24 months</c:v>
                </c:pt>
              </c:strCache>
            </c:strRef>
          </c:cat>
          <c:val>
            <c:numRef>
              <c:f>'[WA_Fn-UseC_-Telco-Customer-Churn.xlsx]Churn Breakdown by Tenure'!$B$5:$B$8</c:f>
              <c:numCache>
                <c:formatCode>General</c:formatCode>
                <c:ptCount val="3"/>
                <c:pt idx="0">
                  <c:v>744</c:v>
                </c:pt>
                <c:pt idx="1">
                  <c:v>561</c:v>
                </c:pt>
                <c:pt idx="2">
                  <c:v>564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40"/>
        <c:overlap val="-40"/>
        <c:axId val="267235430"/>
        <c:axId val="731756178"/>
      </c:barChart>
      <c:catAx>
        <c:axId val="26723543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731756178"/>
        <c:crosses val="autoZero"/>
        <c:auto val="1"/>
        <c:lblAlgn val="ctr"/>
        <c:lblOffset val="100"/>
        <c:noMultiLvlLbl val="0"/>
      </c:catAx>
      <c:valAx>
        <c:axId val="73175617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26723543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00dc6cf-5977-4938-9b85-b5c942bea9c8}"/>
      </c:ext>
    </c:extLst>
  </c:chart>
  <c:spPr>
    <a:noFill/>
    <a:ln>
      <a:noFill/>
    </a:ln>
    <a:effectLst/>
  </c:spPr>
  <c:txPr>
    <a:bodyPr/>
    <a:lstStyle/>
    <a:p>
      <a:pPr>
        <a:defRPr lang="en-US">
          <a:latin typeface="Lato" charset="0"/>
          <a:ea typeface="Lato" charset="0"/>
          <a:cs typeface="Lato" charset="0"/>
          <a:sym typeface="Lato" charset="0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[WA_Fn-UseC_-Telco-Customer-Churn.xlsx]Online Security Churn Driver!PivotTable17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rPr>
              <a:t>Churn with/without Online Security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'[WA_Fn-UseC_-Telco-Customer-Churn.xlsx]Online Security Churn Driver'!$B$3:$B$4</c:f>
              <c:strCache>
                <c:ptCount val="1"/>
                <c:pt idx="0">
                  <c:v>Yes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'[WA_Fn-UseC_-Telco-Customer-Churn.xlsx]Online Security Churn Driver'!$A$5:$A$7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'[WA_Fn-UseC_-Telco-Customer-Churn.xlsx]Online Security Churn Driver'!$B$5:$B$7</c:f>
              <c:numCache>
                <c:formatCode>General</c:formatCode>
                <c:ptCount val="2"/>
                <c:pt idx="0">
                  <c:v>1461</c:v>
                </c:pt>
                <c:pt idx="1">
                  <c:v>295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40"/>
        <c:overlap val="-40"/>
        <c:axId val="531532664"/>
        <c:axId val="91269253"/>
      </c:barChart>
      <c:catAx>
        <c:axId val="531532664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91269253"/>
        <c:crosses val="autoZero"/>
        <c:auto val="1"/>
        <c:lblAlgn val="ctr"/>
        <c:lblOffset val="100"/>
        <c:noMultiLvlLbl val="0"/>
      </c:catAx>
      <c:valAx>
        <c:axId val="9126925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5315326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dd73eca-25c2-470b-9546-06ee75c623d9}"/>
      </c:ext>
    </c:extLst>
  </c:chart>
  <c:spPr>
    <a:noFill/>
    <a:ln>
      <a:noFill/>
    </a:ln>
    <a:effectLst>
      <a:softEdge rad="31750"/>
    </a:effectLst>
  </c:spPr>
  <c:txPr>
    <a:bodyPr/>
    <a:lstStyle/>
    <a:p>
      <a:pPr>
        <a:defRPr lang="en-US">
          <a:latin typeface="Lato" charset="0"/>
          <a:ea typeface="Lato" charset="0"/>
          <a:cs typeface="Lato" charset="0"/>
          <a:sym typeface="Lato" charset="0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[WA_Fn-UseC_-Telco-Customer-Churn.xlsx]Tech Support Churn Driver!PivotTable18</c:name>
    <c:fmtId val="-1"/>
  </c:pivotSource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rPr>
              <a:t>Churn with/without Tech Support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956565656565657"/>
          <c:y val="0.221999331327315"/>
          <c:w val="0.815959595959596"/>
          <c:h val="0.5825476429287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'[WA_Fn-UseC_-Telco-Customer-Churn.xlsx]Tech Support Churn Driver'!$B$3:$B$4</c:f>
              <c:strCache>
                <c:ptCount val="1"/>
                <c:pt idx="0">
                  <c:v>Yes</c:v>
                </c:pt>
              </c:strCache>
            </c:strRef>
          </c:tx>
          <c:spPr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90000">
                  <a:schemeClr val="accent1"/>
                </a:gs>
              </a:gsLst>
              <a:lin ang="10800000" scaled="0"/>
            </a:gradFill>
            <a:ln>
              <a:gradFill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10800000" scaled="0"/>
              </a:gradFill>
            </a:ln>
            <a:effectLst>
              <a:outerShdw blurRad="76200" dist="25400" dir="2700000" algn="tl" rotWithShape="0">
                <a:schemeClr val="accent1">
                  <a:lumMod val="50000"/>
                  <a:alpha val="30000"/>
                </a:scheme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ato" charset="0"/>
                    <a:ea typeface="Lato" charset="0"/>
                    <a:cs typeface="Lato" charset="0"/>
                    <a:sym typeface="Lato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'[WA_Fn-UseC_-Telco-Customer-Churn.xlsx]Tech Support Churn Driver'!$A$5:$A$7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'[WA_Fn-UseC_-Telco-Customer-Churn.xlsx]Tech Support Churn Driver'!$B$5:$B$7</c:f>
              <c:numCache>
                <c:formatCode>General</c:formatCode>
                <c:ptCount val="2"/>
                <c:pt idx="0">
                  <c:v>1446</c:v>
                </c:pt>
                <c:pt idx="1">
                  <c:v>310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1"/>
        </c:dLbls>
        <c:gapWidth val="140"/>
        <c:overlap val="-40"/>
        <c:axId val="585517112"/>
        <c:axId val="392883034"/>
      </c:barChart>
      <c:catAx>
        <c:axId val="585517112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392883034"/>
        <c:crosses val="autoZero"/>
        <c:auto val="1"/>
        <c:lblAlgn val="ctr"/>
        <c:lblOffset val="100"/>
        <c:noMultiLvlLbl val="0"/>
      </c:catAx>
      <c:valAx>
        <c:axId val="39288303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  <c:crossAx val="585517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Lato" charset="0"/>
                <a:ea typeface="Lato" charset="0"/>
                <a:cs typeface="Lato" charset="0"/>
                <a:sym typeface="Lato" charset="0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Lato" charset="0"/>
              <a:ea typeface="Lato" charset="0"/>
              <a:cs typeface="Lato" charset="0"/>
              <a:sym typeface="Lato" charset="0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ec35dbb-b260-4c91-8220-5c477efcecfc}"/>
      </c:ext>
    </c:extLst>
  </c:chart>
  <c:spPr>
    <a:noFill/>
    <a:ln>
      <a:noFill/>
    </a:ln>
    <a:effectLst>
      <a:softEdge rad="31750"/>
    </a:effectLst>
  </c:spPr>
  <c:txPr>
    <a:bodyPr/>
    <a:lstStyle/>
    <a:p>
      <a:pPr>
        <a:defRPr lang="en-US">
          <a:latin typeface="Lato" charset="0"/>
          <a:ea typeface="Lato" charset="0"/>
          <a:cs typeface="Lato" charset="0"/>
          <a:sym typeface="Lato" charset="0"/>
        </a:defRPr>
      </a:pPr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Series val="1"/>
        <c14:dropZonesVisible val="1"/>
      </c14:pivotOptions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13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12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12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12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12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gradFill>
        <a:gsLst>
          <a:gs pos="0">
            <a:schemeClr val="phClr">
              <a:lumMod val="40000"/>
              <a:lumOff val="60000"/>
            </a:schemeClr>
          </a:gs>
          <a:gs pos="90000">
            <a:schemeClr val="phClr"/>
          </a:gs>
        </a:gsLst>
        <a:lin ang="10800000" scaled="0"/>
      </a:gradFill>
      <a:ln>
        <a:gradFill>
          <a:gsLst>
            <a:gs pos="0">
              <a:schemeClr val="phClr"/>
            </a:gs>
            <a:gs pos="100000">
              <a:schemeClr val="phClr">
                <a:lumMod val="75000"/>
              </a:schemeClr>
            </a:gs>
          </a:gsLst>
          <a:lin ang="10800000" scaled="0"/>
        </a:gradFill>
      </a:ln>
      <a:effectLst>
        <a:outerShdw blurRad="76200" dist="25400" dir="2700000" algn="tl" rotWithShape="0">
          <a:schemeClr val="phClr">
            <a:lumMod val="50000"/>
            <a:alpha val="30000"/>
          </a:schemeClr>
        </a:outerShdw>
      </a:effectLst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3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9" hasCustomPrompt="1"/>
            <p:custDataLst>
              <p:tags r:id="rId4"/>
            </p:custDataLst>
          </p:nvPr>
        </p:nvSpPr>
        <p:spPr>
          <a:xfrm>
            <a:off x="982800" y="4124815"/>
            <a:ext cx="5519420" cy="544836"/>
          </a:xfrm>
          <a:prstGeom prst="rect">
            <a:avLst/>
          </a:prstGeom>
          <a:solidFill>
            <a:schemeClr val="tx1">
              <a:alpha val="0"/>
            </a:schemeClr>
          </a:solidFill>
          <a:effectLst/>
        </p:spPr>
        <p:txBody>
          <a:bodyPr wrap="square" lIns="91440" tIns="45720" rIns="91440" bIns="45720" rtlCol="0" anchor="t" anchorCtr="0">
            <a:normAutofit/>
          </a:bodyPr>
          <a:lstStyle>
            <a:defPPr>
              <a:defRPr lang="en-US">
                <a:latin typeface="+mj-lt"/>
              </a:defRPr>
            </a:defPPr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sym typeface="Microsoft YaHei" panose="020B050302020402020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椭圆 2"/>
          <p:cNvSpPr/>
          <p:nvPr userDrawn="1">
            <p:custDataLst>
              <p:tags r:id="rId5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7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8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9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20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1"/>
            </p:custDataLst>
          </p:nvPr>
        </p:nvSpPr>
        <p:spPr>
          <a:xfrm>
            <a:off x="957600" y="566964"/>
            <a:ext cx="6545560" cy="3411788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图形 3" descr="3b343532353530353bc8cfd6a4c9f3bacb"/>
          <p:cNvSpPr/>
          <p:nvPr userDrawn="1">
            <p:custDataLst>
              <p:tags r:id="rId15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署名占位符 10"/>
          <p:cNvSpPr>
            <a:spLocks noGrp="1"/>
          </p:cNvSpPr>
          <p:nvPr>
            <p:ph type="body" sz="quarter" idx="17" hasCustomPrompt="1"/>
            <p:custDataLst>
              <p:tags r:id="rId16"/>
            </p:custDataLst>
          </p:nvPr>
        </p:nvSpPr>
        <p:spPr>
          <a:xfrm>
            <a:off x="1062990" y="4813097"/>
            <a:ext cx="2975659" cy="690015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5" hasCustomPrompt="1"/>
            <p:custDataLst>
              <p:tags r:id="rId3"/>
            </p:custDataLst>
          </p:nvPr>
        </p:nvSpPr>
        <p:spPr>
          <a:xfrm>
            <a:off x="1186815" y="3015615"/>
            <a:ext cx="3695700" cy="646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8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 algn="ctr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椭圆 6"/>
          <p:cNvSpPr>
            <a:spLocks noChangeAspect="1"/>
          </p:cNvSpPr>
          <p:nvPr>
            <p:custDataLst>
              <p:tags r:id="rId4"/>
            </p:custDataLst>
          </p:nvPr>
        </p:nvSpPr>
        <p:spPr>
          <a:xfrm rot="3180000">
            <a:off x="2370455" y="2711450"/>
            <a:ext cx="1296035" cy="1296035"/>
          </a:xfrm>
          <a:prstGeom prst="ellipse">
            <a:avLst/>
          </a:prstGeom>
          <a:noFill/>
          <a:ln>
            <a:solidFill>
              <a:schemeClr val="accent1">
                <a:lumMod val="75000"/>
                <a:alpha val="1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弧 9"/>
          <p:cNvSpPr/>
          <p:nvPr>
            <p:custDataLst>
              <p:tags r:id="rId5"/>
            </p:custDataLst>
          </p:nvPr>
        </p:nvSpPr>
        <p:spPr>
          <a:xfrm rot="2040000" flipH="1">
            <a:off x="733425" y="1073785"/>
            <a:ext cx="4570095" cy="4570095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20000"/>
                  </a:srgbClr>
                </a:gs>
                <a:gs pos="80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7" name="椭圆 12"/>
          <p:cNvSpPr/>
          <p:nvPr>
            <p:custDataLst>
              <p:tags r:id="rId6"/>
            </p:custDataLst>
          </p:nvPr>
        </p:nvSpPr>
        <p:spPr>
          <a:xfrm rot="1740000">
            <a:off x="4400550" y="1534160"/>
            <a:ext cx="116205" cy="11620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36" name="椭圆 2"/>
          <p:cNvSpPr/>
          <p:nvPr>
            <p:custDataLst>
              <p:tags r:id="rId7"/>
            </p:custDataLst>
          </p:nvPr>
        </p:nvSpPr>
        <p:spPr>
          <a:xfrm rot="18540000" flipH="1">
            <a:off x="1268730" y="1609090"/>
            <a:ext cx="3500120" cy="3500120"/>
          </a:xfrm>
          <a:prstGeom prst="donut">
            <a:avLst>
              <a:gd name="adj" fmla="val 11124"/>
            </a:avLst>
          </a:prstGeom>
          <a:gradFill>
            <a:gsLst>
              <a:gs pos="0">
                <a:schemeClr val="accent2">
                  <a:alpha val="90000"/>
                </a:schemeClr>
              </a:gs>
              <a:gs pos="100000">
                <a:schemeClr val="accent4">
                  <a:alpha val="30000"/>
                </a:schemeClr>
              </a:gs>
            </a:gsLst>
            <a:lin ang="156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5" hasCustomPrompt="1"/>
            <p:custDataLst>
              <p:tags r:id="rId3"/>
            </p:custDataLst>
          </p:nvPr>
        </p:nvSpPr>
        <p:spPr>
          <a:xfrm>
            <a:off x="1089025" y="2258695"/>
            <a:ext cx="1838325" cy="18618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1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n-lt"/>
              </a:defRPr>
            </a:lvl1pPr>
          </a:lstStyle>
          <a:p>
            <a:pPr lvl="0" algn="r"/>
            <a:r>
              <a:rPr dirty="0">
                <a:sym typeface="+mn-ea"/>
              </a:rPr>
              <a:t>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4" hasCustomPrompt="1"/>
            <p:custDataLst>
              <p:tags r:id="rId4"/>
            </p:custDataLst>
          </p:nvPr>
        </p:nvSpPr>
        <p:spPr>
          <a:xfrm>
            <a:off x="3218815" y="2044700"/>
            <a:ext cx="7991475" cy="2274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5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 lang="en-US"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5" name="任意多边形 14"/>
          <p:cNvSpPr/>
          <p:nvPr>
            <p:custDataLst>
              <p:tags r:id="rId5"/>
            </p:custDataLst>
          </p:nvPr>
        </p:nvSpPr>
        <p:spPr>
          <a:xfrm>
            <a:off x="-4445" y="5634587"/>
            <a:ext cx="12195810" cy="1232773"/>
          </a:xfrm>
          <a:custGeom>
            <a:avLst/>
            <a:gdLst>
              <a:gd name="connsiteX0" fmla="*/ 0 w 19206"/>
              <a:gd name="connsiteY0" fmla="*/ 283 h 1941"/>
              <a:gd name="connsiteX1" fmla="*/ 5107 w 19206"/>
              <a:gd name="connsiteY1" fmla="*/ 655 h 1941"/>
              <a:gd name="connsiteX2" fmla="*/ 19206 w 19206"/>
              <a:gd name="connsiteY2" fmla="*/ 1591 h 1941"/>
              <a:gd name="connsiteX3" fmla="*/ 19206 w 19206"/>
              <a:gd name="connsiteY3" fmla="*/ 1941 h 1941"/>
              <a:gd name="connsiteX4" fmla="*/ 7 w 19206"/>
              <a:gd name="connsiteY4" fmla="*/ 1941 h 1941"/>
              <a:gd name="connsiteX5" fmla="*/ 0 w 19206"/>
              <a:gd name="connsiteY5" fmla="*/ 283 h 1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941">
                <a:moveTo>
                  <a:pt x="0" y="283"/>
                </a:moveTo>
                <a:cubicBezTo>
                  <a:pt x="943" y="76"/>
                  <a:pt x="2511" y="-388"/>
                  <a:pt x="5107" y="655"/>
                </a:cubicBezTo>
                <a:cubicBezTo>
                  <a:pt x="7703" y="1697"/>
                  <a:pt x="10626" y="1762"/>
                  <a:pt x="19206" y="1591"/>
                </a:cubicBezTo>
                <a:lnTo>
                  <a:pt x="19206" y="1941"/>
                </a:lnTo>
                <a:lnTo>
                  <a:pt x="7" y="1941"/>
                </a:lnTo>
                <a:lnTo>
                  <a:pt x="0" y="283"/>
                </a:lnTo>
                <a:close/>
              </a:path>
            </a:pathLst>
          </a:custGeom>
          <a:gradFill>
            <a:gsLst>
              <a:gs pos="22000">
                <a:schemeClr val="accent1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16" name="任意多边形 15"/>
          <p:cNvSpPr/>
          <p:nvPr>
            <p:custDataLst>
              <p:tags r:id="rId6"/>
            </p:custDataLst>
          </p:nvPr>
        </p:nvSpPr>
        <p:spPr>
          <a:xfrm flipH="1">
            <a:off x="-19685" y="5432425"/>
            <a:ext cx="12192000" cy="1427480"/>
          </a:xfrm>
          <a:custGeom>
            <a:avLst/>
            <a:gdLst>
              <a:gd name="connsiteX0" fmla="*/ 0 w 19200"/>
              <a:gd name="connsiteY0" fmla="*/ 747 h 2557"/>
              <a:gd name="connsiteX1" fmla="*/ 3975 w 19200"/>
              <a:gd name="connsiteY1" fmla="*/ 106 h 2557"/>
              <a:gd name="connsiteX2" fmla="*/ 19200 w 19200"/>
              <a:gd name="connsiteY2" fmla="*/ 2160 h 2557"/>
              <a:gd name="connsiteX3" fmla="*/ 19200 w 19200"/>
              <a:gd name="connsiteY3" fmla="*/ 2558 h 2557"/>
              <a:gd name="connsiteX4" fmla="*/ 1 w 19200"/>
              <a:gd name="connsiteY4" fmla="*/ 2558 h 2557"/>
              <a:gd name="connsiteX5" fmla="*/ 0 w 19200"/>
              <a:gd name="connsiteY5" fmla="*/ 747 h 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0" h="2558">
                <a:moveTo>
                  <a:pt x="0" y="747"/>
                </a:moveTo>
                <a:cubicBezTo>
                  <a:pt x="203" y="607"/>
                  <a:pt x="1793" y="-305"/>
                  <a:pt x="3975" y="106"/>
                </a:cubicBezTo>
                <a:cubicBezTo>
                  <a:pt x="6157" y="517"/>
                  <a:pt x="7452" y="2105"/>
                  <a:pt x="19200" y="2160"/>
                </a:cubicBezTo>
                <a:lnTo>
                  <a:pt x="19200" y="2558"/>
                </a:lnTo>
                <a:lnTo>
                  <a:pt x="1" y="2558"/>
                </a:lnTo>
                <a:lnTo>
                  <a:pt x="0" y="747"/>
                </a:lnTo>
                <a:close/>
              </a:path>
            </a:pathLst>
          </a:custGeom>
          <a:gradFill>
            <a:gsLst>
              <a:gs pos="32000">
                <a:schemeClr val="accent1">
                  <a:alpha val="20000"/>
                </a:schemeClr>
              </a:gs>
              <a:gs pos="90000">
                <a:schemeClr val="accent3">
                  <a:lumMod val="40000"/>
                  <a:lumOff val="60000"/>
                  <a:alpha val="64000"/>
                </a:schemeClr>
              </a:gs>
            </a:gsLst>
            <a:lin ang="52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  <a:cs typeface="Arial" panose="020B0604020202020204" pitchFamily="34" charset="0"/>
            </a:endParaRPr>
          </a:p>
        </p:txBody>
      </p:sp>
      <p:sp>
        <p:nvSpPr>
          <p:cNvPr id="22" name="任意多边形 21"/>
          <p:cNvSpPr/>
          <p:nvPr>
            <p:custDataLst>
              <p:tags r:id="rId7"/>
            </p:custDataLst>
          </p:nvPr>
        </p:nvSpPr>
        <p:spPr>
          <a:xfrm flipH="1">
            <a:off x="-23495" y="5995035"/>
            <a:ext cx="12214860" cy="873125"/>
          </a:xfrm>
          <a:custGeom>
            <a:avLst/>
            <a:gdLst>
              <a:gd name="connsiteX0" fmla="*/ 0 w 19206"/>
              <a:gd name="connsiteY0" fmla="*/ 534 h 1465"/>
              <a:gd name="connsiteX1" fmla="*/ 5787 w 19206"/>
              <a:gd name="connsiteY1" fmla="*/ 384 h 1465"/>
              <a:gd name="connsiteX2" fmla="*/ 19206 w 19206"/>
              <a:gd name="connsiteY2" fmla="*/ 553 h 1465"/>
              <a:gd name="connsiteX3" fmla="*/ 19206 w 19206"/>
              <a:gd name="connsiteY3" fmla="*/ 1465 h 1465"/>
              <a:gd name="connsiteX4" fmla="*/ 7 w 19206"/>
              <a:gd name="connsiteY4" fmla="*/ 1465 h 1465"/>
              <a:gd name="connsiteX5" fmla="*/ 0 w 19206"/>
              <a:gd name="connsiteY5" fmla="*/ 534 h 1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06" h="1465">
                <a:moveTo>
                  <a:pt x="0" y="534"/>
                </a:moveTo>
                <a:cubicBezTo>
                  <a:pt x="1073" y="-26"/>
                  <a:pt x="3196" y="-252"/>
                  <a:pt x="5787" y="384"/>
                </a:cubicBezTo>
                <a:cubicBezTo>
                  <a:pt x="8378" y="1020"/>
                  <a:pt x="15553" y="1551"/>
                  <a:pt x="19206" y="553"/>
                </a:cubicBezTo>
                <a:lnTo>
                  <a:pt x="19206" y="1465"/>
                </a:lnTo>
                <a:lnTo>
                  <a:pt x="7" y="1465"/>
                </a:lnTo>
                <a:lnTo>
                  <a:pt x="0" y="534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78000">
                <a:schemeClr val="accent3">
                  <a:lumMod val="20000"/>
                  <a:lumOff val="80000"/>
                  <a:alpha val="25000"/>
                </a:schemeClr>
              </a:gs>
            </a:gsLst>
            <a:lin ang="4200000" scaled="0"/>
          </a:gradFill>
          <a:ln>
            <a:noFill/>
          </a:ln>
          <a:effectLst>
            <a:outerShdw blurRad="177800" dist="50800" dir="16200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dk1"/>
                </a:solidFill>
                <a:cs typeface="Arial" panose="020B0604020202020204" pitchFamily="34" charset="0"/>
              </a:rPr>
              <a:t> </a:t>
            </a:r>
            <a:endParaRPr lang="en-US">
              <a:solidFill>
                <a:schemeClr val="dk1"/>
              </a:solidFill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5" hasCustomPrompt="1"/>
            <p:custDataLst>
              <p:tags r:id="rId3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4" hasCustomPrompt="1"/>
            <p:custDataLst>
              <p:tags r:id="rId4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3" hasCustomPrompt="1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7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5" name="正文"/>
          <p:cNvSpPr txBox="1">
            <a:spLocks noGrp="1"/>
          </p:cNvSpPr>
          <p:nvPr>
            <p:ph idx="7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6" hasCustomPrompt="1"/>
            <p:custDataLst>
              <p:tags r:id="rId4"/>
            </p:custDataLst>
          </p:nvPr>
        </p:nvSpPr>
        <p:spPr>
          <a:xfrm>
            <a:off x="62352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5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4" hasCustomPrompt="1"/>
            <p:custDataLst>
              <p:tags r:id="rId6"/>
            </p:custDataLst>
          </p:nvPr>
        </p:nvSpPr>
        <p:spPr>
          <a:xfrm>
            <a:off x="608400" y="1419070"/>
            <a:ext cx="5342400" cy="42037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9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3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3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l">
              <a:buClrTx/>
              <a:buSz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4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5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body" idx="4" hasCustomPrompt="1"/>
            <p:custDataLst>
              <p:tags r:id="rId3"/>
            </p:custDataLst>
          </p:nvPr>
        </p:nvSpPr>
        <p:spPr>
          <a:xfrm>
            <a:off x="695960" y="1301750"/>
            <a:ext cx="10799088" cy="40005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sp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18" name="任意多边形 17"/>
          <p:cNvSpPr/>
          <p:nvPr>
            <p:custDataLst>
              <p:tags r:id="rId6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1">
                  <a:alpha val="10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cs typeface="Arial" panose="020B0604020202020204" pitchFamily="34" charset="0"/>
              <a:sym typeface="+mn-lt"/>
            </a:endParaRPr>
          </a:p>
        </p:txBody>
      </p:sp>
      <p:sp>
        <p:nvSpPr>
          <p:cNvPr id="14" name="椭圆 4"/>
          <p:cNvSpPr/>
          <p:nvPr userDrawn="1">
            <p:custDataLst>
              <p:tags r:id="rId3"/>
            </p:custDataLst>
          </p:nvPr>
        </p:nvSpPr>
        <p:spPr>
          <a:xfrm flipH="1">
            <a:off x="12700" y="-18415"/>
            <a:ext cx="3677285" cy="3043555"/>
          </a:xfrm>
          <a:custGeom>
            <a:avLst/>
            <a:gdLst>
              <a:gd name="connsiteX0" fmla="*/ 5791 w 5791"/>
              <a:gd name="connsiteY0" fmla="*/ 4793 h 4793"/>
              <a:gd name="connsiteX1" fmla="*/ 0 w 5791"/>
              <a:gd name="connsiteY1" fmla="*/ 0 h 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91" h="4793">
                <a:moveTo>
                  <a:pt x="5791" y="4793"/>
                </a:moveTo>
                <a:cubicBezTo>
                  <a:pt x="3491" y="4753"/>
                  <a:pt x="411" y="3773"/>
                  <a:pt x="0" y="0"/>
                </a:cubicBezTo>
              </a:path>
            </a:pathLst>
          </a:custGeom>
          <a:noFill/>
          <a:ln w="12700">
            <a:gradFill>
              <a:gsLst>
                <a:gs pos="0">
                  <a:schemeClr val="accent1">
                    <a:alpha val="30000"/>
                  </a:schemeClr>
                </a:gs>
                <a:gs pos="100000">
                  <a:schemeClr val="accent6">
                    <a:alpha val="0"/>
                  </a:schemeClr>
                </a:gs>
              </a:gsLst>
              <a:lin ang="15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椭圆 2"/>
          <p:cNvSpPr/>
          <p:nvPr userDrawn="1">
            <p:custDataLst>
              <p:tags r:id="rId4"/>
            </p:custDataLst>
          </p:nvPr>
        </p:nvSpPr>
        <p:spPr>
          <a:xfrm flipH="1">
            <a:off x="7527290" y="2088893"/>
            <a:ext cx="4664710" cy="4769107"/>
          </a:xfrm>
          <a:custGeom>
            <a:avLst/>
            <a:gdLst>
              <a:gd name="adj" fmla="val 4778"/>
              <a:gd name="a" fmla="pin 0 adj 50000"/>
              <a:gd name="dr" fmla="*/ ss a 100000"/>
              <a:gd name="iwd2" fmla="+- wd2 0 dr"/>
              <a:gd name="ihd2" fmla="+- hd2 0 dr"/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7346" h="7510">
                <a:moveTo>
                  <a:pt x="0" y="0"/>
                </a:moveTo>
                <a:lnTo>
                  <a:pt x="2" y="0"/>
                </a:lnTo>
                <a:cubicBezTo>
                  <a:pt x="4067" y="51"/>
                  <a:pt x="7346" y="3363"/>
                  <a:pt x="7346" y="7439"/>
                </a:cubicBezTo>
                <a:lnTo>
                  <a:pt x="7346" y="7510"/>
                </a:lnTo>
                <a:lnTo>
                  <a:pt x="6635" y="7510"/>
                </a:lnTo>
                <a:lnTo>
                  <a:pt x="6635" y="7439"/>
                </a:lnTo>
                <a:cubicBezTo>
                  <a:pt x="6635" y="3781"/>
                  <a:pt x="3716" y="805"/>
                  <a:pt x="80" y="713"/>
                </a:cubicBezTo>
                <a:lnTo>
                  <a:pt x="0" y="71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5000000" scaled="0"/>
          </a:gra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8" hasCustomPrompt="1"/>
            <p:custDataLst>
              <p:tags r:id="rId5"/>
            </p:custDataLst>
          </p:nvPr>
        </p:nvSpPr>
        <p:spPr>
          <a:xfrm>
            <a:off x="1163955" y="1460361"/>
            <a:ext cx="5520055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all" spc="0" normalizeH="0" baseline="0" noProof="0">
                <a:ln w="12700"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50800" dist="101600" dir="5400000" algn="ctr" rotWithShape="0">
                    <a:schemeClr val="accent1">
                      <a:alpha val="12000"/>
                    </a:schemeClr>
                  </a:outerShdw>
                </a:effectLst>
                <a:uLnTx/>
                <a:uFillTx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10" name="椭圆 12"/>
          <p:cNvSpPr/>
          <p:nvPr userDrawn="1">
            <p:custDataLst>
              <p:tags r:id="rId6"/>
            </p:custDataLst>
          </p:nvPr>
        </p:nvSpPr>
        <p:spPr>
          <a:xfrm>
            <a:off x="9285605" y="878840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1" name="弧 9"/>
          <p:cNvSpPr/>
          <p:nvPr userDrawn="1">
            <p:custDataLst>
              <p:tags r:id="rId7"/>
            </p:custDataLst>
          </p:nvPr>
        </p:nvSpPr>
        <p:spPr>
          <a:xfrm rot="300000" flipH="1">
            <a:off x="5975985" y="915035"/>
            <a:ext cx="5842000" cy="5842000"/>
          </a:xfrm>
          <a:prstGeom prst="arc">
            <a:avLst>
              <a:gd name="adj1" fmla="val 6417921"/>
              <a:gd name="adj2" fmla="val 15911004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1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12" name="弧 10"/>
          <p:cNvSpPr/>
          <p:nvPr userDrawn="1">
            <p:custDataLst>
              <p:tags r:id="rId8"/>
            </p:custDataLst>
          </p:nvPr>
        </p:nvSpPr>
        <p:spPr>
          <a:xfrm rot="21060000" flipH="1">
            <a:off x="7099300" y="2038350"/>
            <a:ext cx="3595370" cy="3595370"/>
          </a:xfrm>
          <a:prstGeom prst="arc">
            <a:avLst>
              <a:gd name="adj1" fmla="val 3916977"/>
              <a:gd name="adj2" fmla="val 18579731"/>
            </a:avLst>
          </a:prstGeom>
          <a:ln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rgbClr val="FF8D41">
                    <a:alpha val="5000"/>
                  </a:srgbClr>
                </a:gs>
                <a:gs pos="83000">
                  <a:schemeClr val="accent1">
                    <a:alpha val="25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kumimoji="1" lang="en-US">
              <a:cs typeface="Arial" panose="020B0604020202020204" pitchFamily="34" charset="0"/>
              <a:sym typeface="+mn-lt"/>
            </a:endParaRPr>
          </a:p>
        </p:txBody>
      </p:sp>
      <p:sp>
        <p:nvSpPr>
          <p:cNvPr id="13" name="bRQB5ljLEGlw4nI椭圆 15"/>
          <p:cNvSpPr/>
          <p:nvPr userDrawn="1">
            <p:custDataLst>
              <p:tags r:id="rId9"/>
            </p:custDataLst>
          </p:nvPr>
        </p:nvSpPr>
        <p:spPr>
          <a:xfrm flipH="1">
            <a:off x="8118157" y="3057208"/>
            <a:ext cx="1557655" cy="155765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99000">
                <a:schemeClr val="bg1">
                  <a:lumMod val="95000"/>
                </a:schemeClr>
              </a:gs>
            </a:gsLst>
            <a:lin ang="2700000" scaled="1"/>
            <a:tileRect/>
          </a:gradFill>
          <a:ln w="3175">
            <a:solidFill>
              <a:schemeClr val="accent1">
                <a:alpha val="40000"/>
              </a:schemeClr>
            </a:solidFill>
          </a:ln>
          <a:effectLst>
            <a:outerShdw blurRad="152400" dist="152400" dir="8100000" algn="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21" name="椭圆 11"/>
          <p:cNvSpPr/>
          <p:nvPr userDrawn="1">
            <p:custDataLst>
              <p:tags r:id="rId10"/>
            </p:custDataLst>
          </p:nvPr>
        </p:nvSpPr>
        <p:spPr>
          <a:xfrm>
            <a:off x="7503160" y="2549525"/>
            <a:ext cx="149225" cy="149225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cs typeface="Arial" panose="020B0604020202020204" pitchFamily="34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图形 3" descr="3b343532353530353bc8cfd6a4c9f3bacb"/>
          <p:cNvSpPr/>
          <p:nvPr userDrawn="1">
            <p:custDataLst>
              <p:tags r:id="rId14"/>
            </p:custDataLst>
          </p:nvPr>
        </p:nvSpPr>
        <p:spPr>
          <a:xfrm>
            <a:off x="8575213" y="3476035"/>
            <a:ext cx="643543" cy="720002"/>
          </a:xfrm>
          <a:custGeom>
            <a:avLst/>
            <a:gdLst>
              <a:gd name="connsiteX0" fmla="*/ 465883 w 643543"/>
              <a:gd name="connsiteY0" fmla="*/ 69728 h 720002"/>
              <a:gd name="connsiteX1" fmla="*/ 614430 w 643543"/>
              <a:gd name="connsiteY1" fmla="*/ 98492 h 720002"/>
              <a:gd name="connsiteX2" fmla="*/ 643543 w 643543"/>
              <a:gd name="connsiteY2" fmla="*/ 130709 h 720002"/>
              <a:gd name="connsiteX3" fmla="*/ 643543 w 643543"/>
              <a:gd name="connsiteY3" fmla="*/ 404866 h 720002"/>
              <a:gd name="connsiteX4" fmla="*/ 321385 w 643543"/>
              <a:gd name="connsiteY4" fmla="*/ 720001 h 720002"/>
              <a:gd name="connsiteX5" fmla="*/ 0 w 643543"/>
              <a:gd name="connsiteY5" fmla="*/ 404866 h 720002"/>
              <a:gd name="connsiteX6" fmla="*/ 0 w 643543"/>
              <a:gd name="connsiteY6" fmla="*/ 128793 h 720002"/>
              <a:gd name="connsiteX7" fmla="*/ 27542 w 643543"/>
              <a:gd name="connsiteY7" fmla="*/ 96701 h 720002"/>
              <a:gd name="connsiteX8" fmla="*/ 177619 w 643543"/>
              <a:gd name="connsiteY8" fmla="*/ 69728 h 720002"/>
              <a:gd name="connsiteX9" fmla="*/ 305840 w 643543"/>
              <a:gd name="connsiteY9" fmla="*/ 4704 h 720002"/>
              <a:gd name="connsiteX10" fmla="*/ 337707 w 643543"/>
              <a:gd name="connsiteY10" fmla="*/ 4701 h 720002"/>
              <a:gd name="connsiteX11" fmla="*/ 465883 w 643543"/>
              <a:gd name="connsiteY11" fmla="*/ 69728 h 720002"/>
              <a:gd name="connsiteX12" fmla="*/ 298562 w 643543"/>
              <a:gd name="connsiteY12" fmla="*/ 390266 h 720002"/>
              <a:gd name="connsiteX13" fmla="*/ 233556 w 643543"/>
              <a:gd name="connsiteY13" fmla="*/ 321839 h 720002"/>
              <a:gd name="connsiteX14" fmla="*/ 190216 w 643543"/>
              <a:gd name="connsiteY14" fmla="*/ 321839 h 720002"/>
              <a:gd name="connsiteX15" fmla="*/ 190216 w 643543"/>
              <a:gd name="connsiteY15" fmla="*/ 367459 h 720002"/>
              <a:gd name="connsiteX16" fmla="*/ 276892 w 643543"/>
              <a:gd name="connsiteY16" fmla="*/ 458697 h 720002"/>
              <a:gd name="connsiteX17" fmla="*/ 320232 w 643543"/>
              <a:gd name="connsiteY17" fmla="*/ 458697 h 720002"/>
              <a:gd name="connsiteX18" fmla="*/ 471916 w 643543"/>
              <a:gd name="connsiteY18" fmla="*/ 299029 h 720002"/>
              <a:gd name="connsiteX19" fmla="*/ 471916 w 643543"/>
              <a:gd name="connsiteY19" fmla="*/ 253408 h 720002"/>
              <a:gd name="connsiteX20" fmla="*/ 428577 w 643543"/>
              <a:gd name="connsiteY20" fmla="*/ 253408 h 720002"/>
              <a:gd name="connsiteX21" fmla="*/ 298562 w 643543"/>
              <a:gd name="connsiteY21" fmla="*/ 390266 h 720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43543" h="720002">
                <a:moveTo>
                  <a:pt x="465883" y="69728"/>
                </a:moveTo>
                <a:cubicBezTo>
                  <a:pt x="507928" y="85903"/>
                  <a:pt x="557442" y="95491"/>
                  <a:pt x="614430" y="98492"/>
                </a:cubicBezTo>
                <a:cubicBezTo>
                  <a:pt x="630737" y="99350"/>
                  <a:pt x="643543" y="113520"/>
                  <a:pt x="643543" y="130709"/>
                </a:cubicBezTo>
                <a:lnTo>
                  <a:pt x="643543" y="404866"/>
                </a:lnTo>
                <a:cubicBezTo>
                  <a:pt x="643156" y="558055"/>
                  <a:pt x="433920" y="720001"/>
                  <a:pt x="321385" y="720001"/>
                </a:cubicBezTo>
                <a:cubicBezTo>
                  <a:pt x="208852" y="720001"/>
                  <a:pt x="0" y="558055"/>
                  <a:pt x="0" y="404866"/>
                </a:cubicBezTo>
                <a:lnTo>
                  <a:pt x="0" y="128793"/>
                </a:lnTo>
                <a:cubicBezTo>
                  <a:pt x="0" y="112242"/>
                  <a:pt x="11899" y="98377"/>
                  <a:pt x="27542" y="96701"/>
                </a:cubicBezTo>
                <a:cubicBezTo>
                  <a:pt x="99727" y="88967"/>
                  <a:pt x="149753" y="79976"/>
                  <a:pt x="177619" y="69728"/>
                </a:cubicBezTo>
                <a:cubicBezTo>
                  <a:pt x="222172" y="52608"/>
                  <a:pt x="264914" y="30934"/>
                  <a:pt x="305840" y="4704"/>
                </a:cubicBezTo>
                <a:cubicBezTo>
                  <a:pt x="315627" y="-1569"/>
                  <a:pt x="327920" y="-1570"/>
                  <a:pt x="337707" y="4701"/>
                </a:cubicBezTo>
                <a:cubicBezTo>
                  <a:pt x="378652" y="30932"/>
                  <a:pt x="421379" y="52608"/>
                  <a:pt x="465883" y="69728"/>
                </a:cubicBezTo>
                <a:moveTo>
                  <a:pt x="298562" y="390266"/>
                </a:moveTo>
                <a:lnTo>
                  <a:pt x="233556" y="321839"/>
                </a:lnTo>
                <a:cubicBezTo>
                  <a:pt x="221586" y="309242"/>
                  <a:pt x="202184" y="309242"/>
                  <a:pt x="190216" y="321839"/>
                </a:cubicBezTo>
                <a:cubicBezTo>
                  <a:pt x="178249" y="334436"/>
                  <a:pt x="178249" y="354859"/>
                  <a:pt x="190216" y="367459"/>
                </a:cubicBezTo>
                <a:lnTo>
                  <a:pt x="276892" y="458697"/>
                </a:lnTo>
                <a:cubicBezTo>
                  <a:pt x="288859" y="471293"/>
                  <a:pt x="308265" y="471293"/>
                  <a:pt x="320232" y="458697"/>
                </a:cubicBezTo>
                <a:lnTo>
                  <a:pt x="471916" y="299029"/>
                </a:lnTo>
                <a:cubicBezTo>
                  <a:pt x="483883" y="286432"/>
                  <a:pt x="483883" y="266009"/>
                  <a:pt x="471916" y="253408"/>
                </a:cubicBezTo>
                <a:cubicBezTo>
                  <a:pt x="459949" y="240812"/>
                  <a:pt x="440544" y="240812"/>
                  <a:pt x="428577" y="253408"/>
                </a:cubicBezTo>
                <a:lnTo>
                  <a:pt x="298562" y="390266"/>
                </a:lnTo>
              </a:path>
            </a:pathLst>
          </a:custGeom>
          <a:solidFill>
            <a:schemeClr val="accent1"/>
          </a:solidFill>
          <a:ln w="37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5"/>
            </p:custDataLst>
          </p:nvPr>
        </p:nvSpPr>
        <p:spPr>
          <a:xfrm>
            <a:off x="1257885" y="3729990"/>
            <a:ext cx="2975659" cy="612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 spc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1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2211050" cy="6858000"/>
          </a:xfrm>
          <a:prstGeom prst="rect">
            <a:avLst/>
          </a:prstGeom>
          <a:gradFill>
            <a:gsLst>
              <a:gs pos="0">
                <a:schemeClr val="bg2">
                  <a:alpha val="75000"/>
                </a:schemeClr>
              </a:gs>
              <a:gs pos="100000">
                <a:schemeClr val="bg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-19050" y="0"/>
            <a:ext cx="729615" cy="7493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9" h="1180">
                <a:moveTo>
                  <a:pt x="600" y="0"/>
                </a:moveTo>
                <a:lnTo>
                  <a:pt x="1144" y="0"/>
                </a:lnTo>
                <a:lnTo>
                  <a:pt x="1146" y="17"/>
                </a:lnTo>
                <a:cubicBezTo>
                  <a:pt x="1148" y="44"/>
                  <a:pt x="1149" y="72"/>
                  <a:pt x="1149" y="100"/>
                </a:cubicBezTo>
                <a:cubicBezTo>
                  <a:pt x="1149" y="696"/>
                  <a:pt x="665" y="1180"/>
                  <a:pt x="69" y="1180"/>
                </a:cubicBezTo>
                <a:cubicBezTo>
                  <a:pt x="50" y="1180"/>
                  <a:pt x="32" y="1180"/>
                  <a:pt x="13" y="1179"/>
                </a:cubicBezTo>
                <a:lnTo>
                  <a:pt x="0" y="1178"/>
                </a:lnTo>
                <a:lnTo>
                  <a:pt x="0" y="635"/>
                </a:lnTo>
                <a:lnTo>
                  <a:pt x="14" y="637"/>
                </a:lnTo>
                <a:cubicBezTo>
                  <a:pt x="32" y="639"/>
                  <a:pt x="50" y="640"/>
                  <a:pt x="69" y="640"/>
                </a:cubicBezTo>
                <a:cubicBezTo>
                  <a:pt x="367" y="640"/>
                  <a:pt x="609" y="398"/>
                  <a:pt x="609" y="100"/>
                </a:cubicBezTo>
                <a:cubicBezTo>
                  <a:pt x="609" y="72"/>
                  <a:pt x="607" y="45"/>
                  <a:pt x="603" y="18"/>
                </a:cubicBezTo>
                <a:lnTo>
                  <a:pt x="600" y="0"/>
                </a:ln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11005000" y="5841815"/>
            <a:ext cx="1187000" cy="10161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69" h="1600">
                <a:moveTo>
                  <a:pt x="1089" y="0"/>
                </a:moveTo>
                <a:cubicBezTo>
                  <a:pt x="1196" y="1"/>
                  <a:pt x="1306" y="18"/>
                  <a:pt x="1414" y="53"/>
                </a:cubicBezTo>
                <a:cubicBezTo>
                  <a:pt x="1591" y="111"/>
                  <a:pt x="1743" y="210"/>
                  <a:pt x="1863" y="336"/>
                </a:cubicBezTo>
                <a:lnTo>
                  <a:pt x="1869" y="343"/>
                </a:lnTo>
                <a:lnTo>
                  <a:pt x="1869" y="1600"/>
                </a:lnTo>
                <a:lnTo>
                  <a:pt x="1226" y="1600"/>
                </a:lnTo>
                <a:lnTo>
                  <a:pt x="1229" y="1599"/>
                </a:lnTo>
                <a:cubicBezTo>
                  <a:pt x="1396" y="1552"/>
                  <a:pt x="1536" y="1424"/>
                  <a:pt x="1594" y="1247"/>
                </a:cubicBezTo>
                <a:cubicBezTo>
                  <a:pt x="1686" y="964"/>
                  <a:pt x="1531" y="659"/>
                  <a:pt x="1247" y="567"/>
                </a:cubicBezTo>
                <a:cubicBezTo>
                  <a:pt x="1194" y="549"/>
                  <a:pt x="1140" y="541"/>
                  <a:pt x="1087" y="540"/>
                </a:cubicBezTo>
                <a:cubicBezTo>
                  <a:pt x="857" y="537"/>
                  <a:pt x="642" y="683"/>
                  <a:pt x="567" y="913"/>
                </a:cubicBezTo>
                <a:cubicBezTo>
                  <a:pt x="475" y="1197"/>
                  <a:pt x="630" y="1502"/>
                  <a:pt x="913" y="1594"/>
                </a:cubicBezTo>
                <a:lnTo>
                  <a:pt x="935" y="1600"/>
                </a:lnTo>
                <a:lnTo>
                  <a:pt x="134" y="1600"/>
                </a:lnTo>
                <a:lnTo>
                  <a:pt x="130" y="1594"/>
                </a:lnTo>
                <a:cubicBezTo>
                  <a:pt x="-5" y="1343"/>
                  <a:pt x="-42" y="1039"/>
                  <a:pt x="53" y="747"/>
                </a:cubicBezTo>
                <a:cubicBezTo>
                  <a:pt x="200" y="295"/>
                  <a:pt x="617" y="6"/>
                  <a:pt x="1067" y="0"/>
                </a:cubicBezTo>
                <a:cubicBezTo>
                  <a:pt x="1074" y="0"/>
                  <a:pt x="1081" y="0"/>
                  <a:pt x="1089" y="0"/>
                </a:cubicBezTo>
                <a:close/>
              </a:path>
            </a:pathLst>
          </a:custGeom>
          <a:gradFill>
            <a:gsLst>
              <a:gs pos="5000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1" i="0" u="none" strike="noStrike" kern="1200" cap="none" spc="0" normalizeH="0" baseline="0" smtClean="0">
          <a:ln>
            <a:noFill/>
            <a:prstDash val="sysDot"/>
          </a:ln>
          <a:gradFill>
            <a:gsLst>
              <a:gs pos="0">
                <a:schemeClr val="accent4"/>
              </a:gs>
              <a:gs pos="100000">
                <a:schemeClr val="accent1"/>
              </a:gs>
            </a:gsLst>
            <a:lin ang="4800000" scaled="0"/>
          </a:gra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j-ea"/>
          <a:ea typeface="+mj-ea"/>
          <a:cs typeface="Microsoft YaHei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" Type="http://schemas.openxmlformats.org/officeDocument/2006/relationships/tags" Target="../tags/tag1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4"/>
          <p:cNvSpPr>
            <a:spLocks noGrp="1"/>
          </p:cNvSpPr>
          <p:nvPr>
            <p:ph type="body" idx="9"/>
            <p:custDataLst>
              <p:tags r:id="rId1"/>
            </p:custDataLst>
          </p:nvPr>
        </p:nvSpPr>
        <p:spPr/>
        <p:txBody>
          <a:bodyPr/>
          <a:lstStyle/>
          <a:p>
            <a:pPr mar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</a:pPr>
            <a:r>
              <a:rPr lang="en-US" altLang="en-US">
                <a:ea typeface="+mn-ea"/>
              </a:rPr>
              <a:t>4 Ways to Reduce Churn</a:t>
            </a:r>
            <a:endParaRPr lang="en-US" altLang="en-US">
              <a:ea typeface="+mn-ea"/>
            </a:endParaRPr>
          </a:p>
        </p:txBody>
      </p:sp>
      <p:sp>
        <p:nvSpPr>
          <p:cNvPr id="16" name="标题 9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5000" dirty="0">
                <a:ea typeface="+mj-ea"/>
              </a:rPr>
              <a:t>📋 4 Data-Driven Recommendations to Reduce Churn Rate</a:t>
            </a:r>
            <a:endParaRPr lang="en-US" altLang="en-US" sz="5000" dirty="0">
              <a:ea typeface="+mj-ea"/>
            </a:endParaRPr>
          </a:p>
        </p:txBody>
      </p:sp>
      <p:sp>
        <p:nvSpPr>
          <p:cNvPr id="17" name="文本占位符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prstGeom prst="rect">
            <a:avLst/>
          </a:prstGeom>
          <a:ln>
            <a:noFill/>
            <a:prstDash val="sysDash"/>
          </a:ln>
        </p:spPr>
        <p:txBody>
          <a:bodyPr/>
          <a:p>
            <a:r>
              <a:rPr lang="en-US">
                <a:ea typeface="+mn-ea"/>
              </a:rPr>
              <a:t>AFOLABI SAHEED</a:t>
            </a:r>
            <a:endParaRPr lang="en-US">
              <a:ea typeface="+mn-ea"/>
            </a:endParaRPr>
          </a:p>
          <a:p>
            <a:endParaRPr lang="en-US">
              <a:ea typeface="+mn-ea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Content Placeholder 18"/>
          <p:cNvSpPr>
            <a:spLocks noGrp="1"/>
          </p:cNvSpPr>
          <p:nvPr>
            <p:ph idx="4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3"/>
            </p:custDataLst>
          </p:nvPr>
        </p:nvSpPr>
        <p:spPr>
          <a:xfrm>
            <a:off x="6289040" y="713105"/>
            <a:ext cx="5902960" cy="6144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tx1"/>
                </a:solidFill>
                <a:cs typeface="+mj-ea"/>
              </a:rPr>
              <a:t>Action :</a:t>
            </a:r>
            <a:r>
              <a:rPr lang="en-US" sz="2400" b="1">
                <a:solidFill>
                  <a:schemeClr val="tx1"/>
                </a:solidFill>
                <a:cs typeface="Calibri Light" panose="020F0302020204030204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Launch incentive campaign to convert month-to-month customers to annual contracts</a:t>
            </a:r>
            <a:r>
              <a:rPr lang="en-US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.</a:t>
            </a:r>
            <a:endParaRPr lang="en-US" b="1">
              <a:solidFill>
                <a:schemeClr val="tx1"/>
              </a:solidFill>
              <a:cs typeface="Segoe UI" panose="020B0502040204020203" charset="0"/>
            </a:endParaRPr>
          </a:p>
          <a:p>
            <a:pPr marL="0" lvl="0" indent="0">
              <a:buNone/>
            </a:pP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457200" lvl="1" indent="0" algn="l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OFFER : </a:t>
            </a: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10% monthly discount 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One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free month per year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 Waived setup fees</a:t>
            </a: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914400" lvl="2" indent="0" algn="l">
              <a:buNone/>
            </a:pP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0" lvl="0" indent="0" algn="l">
              <a:buNone/>
            </a:pPr>
            <a:r>
              <a:rPr lang="en-US" sz="2800" b="1">
                <a:solidFill>
                  <a:schemeClr val="tx1"/>
                </a:solidFill>
                <a:cs typeface="+mj-lt"/>
              </a:rPr>
              <a:t>TARGET : </a:t>
            </a:r>
            <a:endParaRPr lang="en-US" sz="2000" b="1">
              <a:solidFill>
                <a:schemeClr val="tx1"/>
              </a:solidFill>
              <a:cs typeface="+mj-lt"/>
            </a:endParaRPr>
          </a:p>
          <a:p>
            <a:pPr marL="457200" lvl="1" indent="0" algn="l">
              <a:buNone/>
            </a:pPr>
            <a:r>
              <a:rPr lang="en-US" sz="20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All month-to-month customers with tenure over 6 months.</a:t>
            </a:r>
            <a:endParaRPr lang="en-US" sz="20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0" algn="l">
              <a:buNone/>
            </a:pPr>
            <a:endParaRPr lang="en-US" sz="20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0" lvl="0" indent="0" algn="l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DATA INSIGHT :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Month-to-month customers churn more than annual contract customers.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graphicFrame>
        <p:nvGraphicFramePr>
          <p:cNvPr id="14" name="Chart 13"/>
          <p:cNvGraphicFramePr/>
          <p:nvPr>
            <p:custDataLst>
              <p:tags r:id="rId4"/>
            </p:custDataLst>
          </p:nvPr>
        </p:nvGraphicFramePr>
        <p:xfrm>
          <a:off x="0" y="839470"/>
          <a:ext cx="6289040" cy="6018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" name="Title 15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330" y="0"/>
            <a:ext cx="10968990" cy="83883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sym typeface="+mn-ea"/>
              </a:rPr>
              <a:t>Convert Month-to-Month to Annual Contracts</a:t>
            </a:r>
            <a:endParaRPr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Content Placeholder 21"/>
          <p:cNvSpPr>
            <a:spLocks noGrp="1"/>
          </p:cNvSpPr>
          <p:nvPr>
            <p:ph idx="4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graphicFrame>
        <p:nvGraphicFramePr>
          <p:cNvPr id="17" name="Churn by Payment Method"/>
          <p:cNvGraphicFramePr/>
          <p:nvPr>
            <p:custDataLst>
              <p:tags r:id="rId3"/>
            </p:custDataLst>
          </p:nvPr>
        </p:nvGraphicFramePr>
        <p:xfrm>
          <a:off x="0" y="789940"/>
          <a:ext cx="6859905" cy="6251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Box 7"/>
          <p:cNvSpPr txBox="1"/>
          <p:nvPr>
            <p:custDataLst>
              <p:tags r:id="rId4"/>
            </p:custDataLst>
          </p:nvPr>
        </p:nvSpPr>
        <p:spPr>
          <a:xfrm>
            <a:off x="6859905" y="789305"/>
            <a:ext cx="5332095" cy="6068695"/>
          </a:xfrm>
          <a:prstGeom prst="rect">
            <a:avLst/>
          </a:prstGeom>
          <a:noFill/>
        </p:spPr>
        <p:txBody>
          <a:bodyPr wrap="square" rtlCol="0">
            <a:normAutofit lnSpcReduction="20000"/>
          </a:bodyPr>
          <a:p>
            <a:r>
              <a:rPr lang="en-US" sz="2800" b="1">
                <a:solidFill>
                  <a:schemeClr val="tx1"/>
                </a:solidFill>
              </a:rPr>
              <a:t>Action :</a:t>
            </a:r>
            <a:r>
              <a:rPr lang="en-US" sz="2400" b="1">
                <a:solidFill>
                  <a:schemeClr val="tx1"/>
                </a:solidFill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Offer discout for auto-pay enrollment.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457200" lvl="1" indent="0">
              <a:buNone/>
            </a:pPr>
            <a:r>
              <a:rPr lang="en-US" sz="2400" b="1">
                <a:solidFill>
                  <a:schemeClr val="tx1"/>
                </a:solidFill>
                <a:cs typeface="Calibri Light" panose="020F0302020204030204" charset="0"/>
              </a:rPr>
              <a:t>OFFER : </a:t>
            </a:r>
            <a:endParaRPr lang="en-US" sz="2400" b="1">
              <a:solidFill>
                <a:schemeClr val="tx1"/>
              </a:solidFill>
              <a:cs typeface="Calibri Light" panose="020F030202020403020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cs typeface="Segoe UI" panose="020B0502040204020203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$2-3  monthly bill credit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 One-time $5 signup bonus</a:t>
            </a:r>
            <a:endParaRPr lang="en-US" sz="2400" b="1">
              <a:solidFill>
                <a:schemeClr val="tx1"/>
              </a:solidFill>
              <a:cs typeface="Calibri Light" panose="020F0302020204030204" charset="0"/>
            </a:endParaRPr>
          </a:p>
          <a:p>
            <a:pPr marL="457200" lvl="1" indent="0">
              <a:buNone/>
            </a:pPr>
            <a:endParaRPr lang="en-US" sz="2400" b="1">
              <a:solidFill>
                <a:schemeClr val="tx1"/>
              </a:solidFill>
              <a:cs typeface="Calibri Light" panose="020F0302020204030204" charset="0"/>
            </a:endParaRPr>
          </a:p>
          <a:p>
            <a:pPr marL="457200" lvl="1" indent="0">
              <a:buNone/>
            </a:pPr>
            <a:r>
              <a:rPr lang="en-US" sz="2400" b="1">
                <a:solidFill>
                  <a:schemeClr val="tx1"/>
                </a:solidFill>
                <a:cs typeface="Calibri Light" panose="020F0302020204030204" charset="0"/>
              </a:rPr>
              <a:t>CHANNELS : </a:t>
            </a:r>
            <a:endParaRPr lang="en-US" sz="2400" b="1">
              <a:solidFill>
                <a:schemeClr val="tx1"/>
              </a:solidFill>
              <a:cs typeface="Calibri Light" panose="020F030202020403020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cs typeface="Segoe UI" panose="020B0502040204020203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Email campaign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 SMS reminders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 Customer portal banner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0">
              <a:buNone/>
            </a:pP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0" lvl="0" indent="0">
              <a:buNone/>
            </a:pPr>
            <a:r>
              <a:rPr lang="en-US" sz="2400" b="1">
                <a:solidFill>
                  <a:schemeClr val="tx1"/>
                </a:solidFill>
                <a:cs typeface="Calibri Light" panose="020F0302020204030204" charset="0"/>
              </a:rPr>
              <a:t>PRIORITY:</a:t>
            </a:r>
            <a:r>
              <a:rPr lang="en-US" sz="2400" b="1">
                <a:solidFill>
                  <a:schemeClr val="tx1"/>
                </a:solidFill>
                <a:cs typeface="Segoe UI" panose="020B0502040204020203" charset="0"/>
              </a:rPr>
              <a:t> Electronic check users first</a:t>
            </a: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457200" lvl="1" indent="0">
              <a:buNone/>
            </a:pP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0" lvl="0" indent="0">
              <a:buNone/>
            </a:pPr>
            <a:r>
              <a:rPr lang="en-US" sz="2400" b="1">
                <a:solidFill>
                  <a:schemeClr val="tx1"/>
                </a:solidFill>
                <a:cs typeface="Calibri Light" panose="020F0302020204030204" charset="0"/>
              </a:rPr>
              <a:t>DATA INSIGHT</a:t>
            </a:r>
            <a:r>
              <a:rPr lang="en-US" sz="2400" b="1">
                <a:solidFill>
                  <a:schemeClr val="tx1"/>
                </a:solidFill>
                <a:cs typeface="Segoe UI" panose="020B0502040204020203" charset="0"/>
              </a:rPr>
              <a:t> :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Electronic check users churn more than customers on automatic payment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20" name="Title 19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330" y="0"/>
            <a:ext cx="10968990" cy="58928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sym typeface="+mn-ea"/>
              </a:rPr>
              <a:t> Incentivize Automatic Payment Enrollment</a:t>
            </a:r>
            <a:endParaRPr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Content Placeholder 18"/>
          <p:cNvSpPr>
            <a:spLocks noGrp="1"/>
          </p:cNvSpPr>
          <p:nvPr>
            <p:ph idx="4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graphicFrame>
        <p:nvGraphicFramePr>
          <p:cNvPr id="14" name="Chart 13"/>
          <p:cNvGraphicFramePr/>
          <p:nvPr>
            <p:custDataLst>
              <p:tags r:id="rId3"/>
            </p:custDataLst>
          </p:nvPr>
        </p:nvGraphicFramePr>
        <p:xfrm>
          <a:off x="0" y="948055"/>
          <a:ext cx="6760210" cy="591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Box 4"/>
          <p:cNvSpPr txBox="1"/>
          <p:nvPr>
            <p:custDataLst>
              <p:tags r:id="rId4"/>
            </p:custDataLst>
          </p:nvPr>
        </p:nvSpPr>
        <p:spPr>
          <a:xfrm>
            <a:off x="6760210" y="802640"/>
            <a:ext cx="5432425" cy="6055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tx1"/>
                </a:solidFill>
                <a:cs typeface="+mj-ea"/>
                <a:sym typeface="+mn-ea"/>
              </a:rPr>
              <a:t>Action :</a:t>
            </a:r>
            <a:r>
              <a:rPr lang="en-US" b="1">
                <a:solidFill>
                  <a:schemeClr val="tx1"/>
                </a:solidFill>
                <a:sym typeface="+mn-ea"/>
              </a:rPr>
              <a:t> </a:t>
            </a:r>
            <a:r>
              <a:rPr lang="en-US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Launch First 90 days program for all customers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endParaRPr lang="en-US" sz="2800" b="1">
              <a:solidFill>
                <a:schemeClr val="tx1"/>
              </a:solidFill>
              <a:cs typeface="+mj-lt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tx1"/>
                </a:solidFill>
                <a:cs typeface="+mj-lt"/>
              </a:rPr>
              <a:t>PROGRAM INCLUDES :</a:t>
            </a:r>
            <a:endParaRPr lang="en-US" sz="2000" b="1">
              <a:solidFill>
                <a:schemeClr val="tx1"/>
              </a:solidFill>
              <a:cs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Day 1 : Welcome email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Day 7 : Setup guide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Day 30 : Tip of the week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Day 45 : Check-in call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Day 75 : Second chcek-in</a:t>
            </a: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457200" lvl="1" indent="0">
              <a:buNone/>
            </a:pPr>
            <a:endParaRPr lang="en-US" sz="2000" b="1">
              <a:solidFill>
                <a:schemeClr val="tx1"/>
              </a:solidFill>
              <a:cs typeface="+mj-lt"/>
            </a:endParaRPr>
          </a:p>
          <a:p>
            <a:pPr marL="0" lvl="0" indent="0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FLAG FOR PRIORITY :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Tenure &lt;6 months + High charges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0" lvl="0" indent="0">
              <a:buNone/>
            </a:pP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0" lvl="0" indent="0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DATA INSIGHT :</a:t>
            </a:r>
            <a:r>
              <a:rPr lang="en-US" sz="2400" b="1">
                <a:solidFill>
                  <a:schemeClr val="tx1"/>
                </a:solidFill>
                <a:cs typeface="Segoe UI" panose="020B0502040204020203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Most churn happens within the first 6 months of a customer’s relationship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457200" lvl="1" indent="0">
              <a:buNone/>
            </a:pP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7" name="Title 16"/>
          <p:cNvSpPr txBox="1">
            <a:spLocks noGrp="1"/>
          </p:cNvSpPr>
          <p:nvPr>
            <p:ph type="title" idx="3"/>
            <p:custDataLst>
              <p:tags r:id="rId5"/>
            </p:custDataLst>
          </p:nvPr>
        </p:nvSpPr>
        <p:spPr>
          <a:xfrm>
            <a:off x="608330" y="0"/>
            <a:ext cx="10968990" cy="802640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sym typeface="+mn-ea"/>
              </a:rPr>
              <a:t>Implement "First 90 Days" Retention Program</a:t>
            </a:r>
            <a:endParaRPr>
              <a:ea typeface="+mj-ea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Content Placeholder 19"/>
          <p:cNvSpPr>
            <a:spLocks noGrp="1"/>
          </p:cNvSpPr>
          <p:nvPr>
            <p:ph idx="4"/>
            <p:custDataLst>
              <p:tags r:id="rId3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graphicFrame>
        <p:nvGraphicFramePr>
          <p:cNvPr id="15" name="Chart 14"/>
          <p:cNvGraphicFramePr/>
          <p:nvPr>
            <p:custDataLst>
              <p:tags r:id="rId4"/>
            </p:custDataLst>
          </p:nvPr>
        </p:nvGraphicFramePr>
        <p:xfrm>
          <a:off x="0" y="957580"/>
          <a:ext cx="6096000" cy="2761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5" name="Chart 4"/>
          <p:cNvGraphicFramePr/>
          <p:nvPr>
            <p:custDataLst>
              <p:tags r:id="rId5"/>
            </p:custDataLst>
          </p:nvPr>
        </p:nvGraphicFramePr>
        <p:xfrm>
          <a:off x="0" y="3827780"/>
          <a:ext cx="6387465" cy="3030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Box 5"/>
          <p:cNvSpPr txBox="1"/>
          <p:nvPr>
            <p:custDataLst>
              <p:tags r:id="rId6"/>
            </p:custDataLst>
          </p:nvPr>
        </p:nvSpPr>
        <p:spPr>
          <a:xfrm>
            <a:off x="6387465" y="680720"/>
            <a:ext cx="5803900" cy="61779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400" b="1">
                <a:solidFill>
                  <a:schemeClr val="tx1"/>
                </a:solidFill>
                <a:cs typeface="+mj-lt"/>
                <a:sym typeface="+mn-ea"/>
              </a:rPr>
              <a:t>Action :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  <a:sym typeface="+mn-ea"/>
              </a:rPr>
              <a:t> Bundle Security + Support free for first year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  <a:sym typeface="+mn-ea"/>
            </a:endParaRPr>
          </a:p>
          <a:p>
            <a:endParaRPr lang="en-US" sz="2400">
              <a:solidFill>
                <a:schemeClr val="tx1"/>
              </a:solidFill>
              <a:cs typeface="+mj-lt"/>
            </a:endParaRPr>
          </a:p>
          <a:p>
            <a:pPr marL="457200" lvl="1" indent="0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OFFER DETAILS : </a:t>
            </a: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Year 1: Free bundle 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Year 2+: Discounted renewal ($5-7/month instead of $15)</a:t>
            </a: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457200" lvl="1" indent="0">
              <a:buNone/>
            </a:pP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457200" lvl="1" indent="0">
              <a:buNone/>
            </a:pPr>
            <a:r>
              <a:rPr lang="en-US" sz="2400" b="1">
                <a:solidFill>
                  <a:schemeClr val="tx1"/>
                </a:solidFill>
                <a:cs typeface="+mj-lt"/>
              </a:rPr>
              <a:t>TARGET :</a:t>
            </a:r>
            <a:endParaRPr lang="en-US" sz="2400" b="1">
              <a:solidFill>
                <a:schemeClr val="tx1"/>
              </a:solidFill>
              <a:cs typeface="+mj-lt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All new customers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Existing customers without these services ( 3-month trial )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sz="2400" b="1">
              <a:solidFill>
                <a:schemeClr val="tx1"/>
              </a:solidFill>
              <a:cs typeface="Segoe UI" panose="020B0502040204020203" charset="0"/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tx1"/>
                </a:solidFill>
                <a:cs typeface="+mj-ea"/>
              </a:rPr>
              <a:t>DATA INSIGHT :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Segoe UI" panose="020B0502040204020203" charset="0"/>
                <a:cs typeface="Segoe UI" panose="020B0502040204020203" charset="0"/>
              </a:rPr>
              <a:t>Customers with onliine security and tech support are much less likely to churn</a:t>
            </a:r>
            <a:endParaRPr lang="en-US" sz="2400" b="1">
              <a:solidFill>
                <a:schemeClr val="tx1"/>
              </a:solidFill>
              <a:latin typeface="Segoe UI" panose="020B0502040204020203" charset="0"/>
              <a:cs typeface="Segoe UI" panose="020B0502040204020203" charset="0"/>
            </a:endParaRPr>
          </a:p>
        </p:txBody>
      </p:sp>
      <p:sp>
        <p:nvSpPr>
          <p:cNvPr id="18" name="Title 17"/>
          <p:cNvSpPr txBox="1">
            <a:spLocks noGrp="1"/>
          </p:cNvSpPr>
          <p:nvPr>
            <p:ph type="title" idx="3"/>
            <p:custDataLst>
              <p:tags r:id="rId7"/>
            </p:custDataLst>
          </p:nvPr>
        </p:nvSpPr>
        <p:spPr>
          <a:xfrm>
            <a:off x="608330" y="635"/>
            <a:ext cx="10968990" cy="680085"/>
          </a:xfr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 fontScale="90000"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ln>
                  <a:noFill/>
                  <a:prstDash val="sysDot"/>
                </a:ln>
                <a:gradFill>
                  <a:gsLst>
                    <a:gs pos="0">
                      <a:schemeClr val="accent4"/>
                    </a:gs>
                    <a:gs pos="100000">
                      <a:schemeClr val="accent1"/>
                    </a:gs>
                  </a:gsLst>
                  <a:lin ang="4800000" scaled="0"/>
                </a:gradFill>
                <a:latin typeface="+mj-lt"/>
              </a:defRPr>
            </a:lvl1pPr>
          </a:lstStyle>
          <a:p>
            <a:pPr lvl="0" algn="ctr"/>
            <a:r>
              <a:rPr>
                <a:ea typeface="+mj-ea"/>
                <a:sym typeface="+mn-ea"/>
              </a:rPr>
              <a:t>Bundle Security + Support for First Year</a:t>
            </a:r>
            <a:endParaRPr>
              <a:ea typeface="+mj-ea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38200" y="635"/>
            <a:ext cx="10515600" cy="82169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>
                <a:solidFill>
                  <a:schemeClr val="tx1"/>
                </a:solidFill>
                <a:latin typeface="+mn-lt"/>
                <a:cs typeface="Segoe UI" panose="020B0502040204020203" charset="0"/>
                <a:sym typeface="+mn-ea"/>
              </a:rPr>
              <a:t>Recommendations Summary</a:t>
            </a:r>
            <a:endParaRPr lang="en-US" altLang="en-US" b="1" dirty="0">
              <a:solidFill>
                <a:schemeClr val="tx1"/>
              </a:solidFill>
              <a:latin typeface="+mn-lt"/>
              <a:cs typeface="Segoe UI" panose="020B0502040204020203" charset="0"/>
              <a:sym typeface="+mn-ea"/>
            </a:endParaRPr>
          </a:p>
        </p:txBody>
      </p:sp>
      <p:graphicFrame>
        <p:nvGraphicFramePr>
          <p:cNvPr id="8" name="Table 7"/>
          <p:cNvGraphicFramePr/>
          <p:nvPr>
            <p:custDataLst>
              <p:tags r:id="rId2"/>
            </p:custDataLst>
          </p:nvPr>
        </p:nvGraphicFramePr>
        <p:xfrm>
          <a:off x="0" y="821690"/>
          <a:ext cx="12194540" cy="455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347976"/>
                <a:gridCol w="2438908"/>
                <a:gridCol w="2438908"/>
                <a:gridCol w="2438908"/>
              </a:tblGrid>
              <a:tr h="1519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dirty="0">
                          <a:cs typeface="Segoe UI" panose="020B0502040204020203" charset="0"/>
                          <a:sym typeface="+mn-ea"/>
                        </a:rPr>
                        <a:t>Recommendations</a:t>
                      </a:r>
                      <a:endParaRPr lang="en-US" altLang="en-US" sz="1800" dirty="0">
                        <a:cs typeface="Segoe UI" panose="020B0502040204020203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/>
                        <a:t>#1 CONVERT   CONTRACT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#2 AUTO-PAY  </a:t>
                      </a:r>
                      <a:r>
                        <a:rPr lang="en-US" altLang="en-US"/>
                        <a:t>INCENTIVE 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#3 FIRST 90  </a:t>
                      </a:r>
                      <a:r>
                        <a:rPr lang="en-US" altLang="en-US"/>
                        <a:t>DAYS PROGRAM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#4 BUNDLE  </a:t>
                      </a:r>
                      <a:r>
                        <a:rPr lang="en-US" altLang="en-US"/>
                        <a:t>SECURITY</a:t>
                      </a:r>
                      <a:endParaRPr lang="en-US" altLang="en-US"/>
                    </a:p>
                  </a:txBody>
                  <a:tcPr/>
                </a:tc>
              </a:tr>
              <a:tr h="1519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Churn Rates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Month-to-month churn = 42.71% vs 2.83% for 2-years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Electronic check = 45.29% vs 16.71% for auto-pay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54.27% churn in first 6 months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41.77% churn without security vs 14.61% with it</a:t>
                      </a:r>
                      <a:endParaRPr lang="en-US" altLang="en-US"/>
                    </a:p>
                  </a:txBody>
                  <a:tcPr/>
                </a:tc>
              </a:tr>
              <a:tr h="1519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Actions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Offer annual contract incentives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$2-3 monthly discount for auto-pay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Day 1 to 75 touchpoints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 Free first year then discounted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>
            <p:custDataLst>
              <p:tags r:id="rId3"/>
            </p:custDataLst>
          </p:nvPr>
        </p:nvSpPr>
        <p:spPr>
          <a:xfrm>
            <a:off x="0" y="5380990"/>
            <a:ext cx="12319000" cy="147701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3600" b="1">
                <a:solidFill>
                  <a:schemeClr val="tx1"/>
                </a:solidFill>
                <a:cs typeface="Segoe UI" panose="020B0502040204020203" charset="0"/>
              </a:rPr>
              <a:t>Each recommendation addresses a specific churn driver identified from the pivot table analysis</a:t>
            </a:r>
            <a:r>
              <a:rPr lang="en-US" altLang="en-US">
                <a:solidFill>
                  <a:schemeClr val="tx1"/>
                </a:solidFill>
              </a:rPr>
              <a:t> 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你的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2*i*3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页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5*i*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6*i*3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7*i*3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8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8*i*2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44"/>
</p:tagLst>
</file>

<file path=ppt/tags/tag11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44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44_1*b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44_1*a*1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4"/>
  <p:tag name="KSO_WM_UNIT_ID" val="_1*f*4"/>
  <p:tag name="KSO_WM_TEMPLATE_CATEGORY" val="custom"/>
  <p:tag name="KSO_WM_TEMPLATE_INDEX" val="20233444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SPECIAL_SOURCE" val="bdnull"/>
  <p:tag name="KSO_WM_TEMPLATE_THUMBS_INDEX" val="1、9"/>
  <p:tag name="KSO_WM_SLIDE_CONTENT_AREA" val="{&quot;left&quot;:&quot;38&quot;,&quot;top&quot;:&quot;120.7&quot;,&quot;width&quot;:&quot;552.8&quot;,&quot;height&quot;:&quot;259.25&quot;}"/>
  <p:tag name="KSO_WM_SLIDE_ID" val="custom202334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44"/>
  <p:tag name="KSO_WM_SLIDE_LAYOUT" val="a_b_f"/>
  <p:tag name="KSO_WM_SLIDE_LAYOUT_CNT" val="1_1_1"/>
  <p:tag name="KSO_WM_SLIDE_THEME_ID" val="3311853"/>
  <p:tag name="KSO_WM_SLIDE_THEME_NAME" val="Orange Star Trail"/>
</p:tagLst>
</file>

<file path=ppt/tags/tag11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19.xml><?xml version="1.0" encoding="utf-8"?>
<p:tagLst xmlns:p="http://schemas.openxmlformats.org/presentationml/2006/main">
  <p:tag name="KSO_WM_UNIT_INDEX" val="10"/>
  <p:tag name="KSO_WM_UNIT_TYPE" val="α"/>
  <p:tag name="KSO_WM_BEAUTIFY_FLAG" val="#wm#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SLIDE_TYPE" val="text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NDEX" val="3"/>
  <p:tag name="KSO_WM_UNIT_TYPE" val="α"/>
  <p:tag name="KSO_WM_BEAUTIFY_FLAG" val="#wm#"/>
</p:tagLst>
</file>

<file path=ppt/tags/tag124.xml><?xml version="1.0" encoding="utf-8"?>
<p:tagLst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25.xml><?xml version="1.0" encoding="utf-8"?>
<p:tagLst xmlns:p="http://schemas.openxmlformats.org/presentationml/2006/main">
  <p:tag name="KSO_WM_UNIT_TEXT" val="Convert Month-to-Month to Annual Contract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26.xml><?xml version="1.0" encoding="utf-8"?>
<p:tagLst xmlns:p="http://schemas.openxmlformats.org/presentationml/2006/main">
  <p:tag name="KSO_WM_SLIDE_TYPE" val="text"/>
  <p:tag name="KSO_WM_BEAUTIFY_FLAG" val="#wm#"/>
</p:tagLst>
</file>

<file path=ppt/tags/tag12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29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30.xml><?xml version="1.0" encoding="utf-8"?>
<p:tagLst xmlns:p="http://schemas.openxmlformats.org/presentationml/2006/main">
  <p:tag name="KSO_WM_UNIT_TEXT" val=" Incentivize Automatic Payment Enrollment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31.xml><?xml version="1.0" encoding="utf-8"?>
<p:tagLst xmlns:p="http://schemas.openxmlformats.org/presentationml/2006/main">
  <p:tag name="KSO_WM_SLIDE_TYPE" val="text"/>
  <p:tag name="KSO_WM_BEAUTIFY_FLAG" val="#wm#"/>
</p:tagLst>
</file>

<file path=ppt/tags/tag1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NDEX" val="2"/>
  <p:tag name="KSO_WM_UNIT_TYPE" val="α"/>
  <p:tag name="KSO_WM_BEAUTIFY_FLAG" val="#wm#"/>
</p:tagLst>
</file>

<file path=ppt/tags/tag134.xml><?xml version="1.0" encoding="utf-8"?>
<p:tagLst xmlns:p="http://schemas.openxmlformats.org/presentationml/2006/main">
  <p:tag name="KSO_WM_UNIT_INDEX" val="4"/>
  <p:tag name="KSO_WM_UNIT_TYPE" val="α"/>
  <p:tag name="KSO_WM_BEAUTIFY_FLAG" val="#wm#"/>
</p:tagLst>
</file>

<file path=ppt/tags/tag135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36.xml><?xml version="1.0" encoding="utf-8"?>
<p:tagLst xmlns:p="http://schemas.openxmlformats.org/presentationml/2006/main">
  <p:tag name="KSO_WM_UNIT_TEXT" val="Implement &quot;First 90 Days&quot; Retention Program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ID" val="_2*a*1"/>
  <p:tag name="KSO_WM_UNIT_LAYERLEVEL" val="1"/>
  <p:tag name="KSO_WM_TAG_VERSION" val="3.0"/>
</p:tagLst>
</file>

<file path=ppt/tags/tag137.xml><?xml version="1.0" encoding="utf-8"?>
<p:tagLst xmlns:p="http://schemas.openxmlformats.org/presentationml/2006/main">
  <p:tag name="KSO_WM_SLIDE_TYPE" val="text"/>
  <p:tag name="KSO_WM_BEAUTIFY_FLAG" val="#wm#"/>
</p:tagLst>
</file>

<file path=ppt/tags/tag138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40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41.xml><?xml version="1.0" encoding="utf-8"?>
<p:tagLst xmlns:p="http://schemas.openxmlformats.org/presentationml/2006/main">
  <p:tag name="KSO_WM_SLIDE_TYPE" val="text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34">
      <a:dk1>
        <a:srgbClr val="000000"/>
      </a:dk1>
      <a:lt1>
        <a:srgbClr val="FFFFFF"/>
      </a:lt1>
      <a:dk2>
        <a:srgbClr val="581D00"/>
      </a:dk2>
      <a:lt2>
        <a:srgbClr val="FFE3D4"/>
      </a:lt2>
      <a:accent1>
        <a:srgbClr val="FF7429"/>
      </a:accent1>
      <a:accent2>
        <a:srgbClr val="F84949"/>
      </a:accent2>
      <a:accent3>
        <a:srgbClr val="FFB108"/>
      </a:accent3>
      <a:accent4>
        <a:srgbClr val="DE3500"/>
      </a:accent4>
      <a:accent5>
        <a:srgbClr val="FFCC66"/>
      </a:accent5>
      <a:accent6>
        <a:srgbClr val="92D050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2038</Words>
  <Application>WPS Presentation</Application>
  <PresentationFormat>Widescreen</PresentationFormat>
  <Paragraphs>102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Microsoft YaHei</vt:lpstr>
      <vt:lpstr>Wingdings</vt:lpstr>
      <vt:lpstr>Calibri Light</vt:lpstr>
      <vt:lpstr>Segoe UI</vt:lpstr>
      <vt:lpstr>Lato</vt:lpstr>
      <vt:lpstr>Segoe Print</vt:lpstr>
      <vt:lpstr>Manrope ExtraBold</vt:lpstr>
      <vt:lpstr>Arial Unicode MS</vt:lpstr>
      <vt:lpstr>Calibri</vt:lpstr>
      <vt:lpstr>Office Theme</vt:lpstr>
      <vt:lpstr>1_Office Theme</vt:lpstr>
      <vt:lpstr>📋 4 Data-Driven Recommendations to Reduce Churn Rate</vt:lpstr>
      <vt:lpstr>Convert Month-to-Month to Annual Contracts</vt:lpstr>
      <vt:lpstr> Incentivize Automatic Payment Enrollment</vt:lpstr>
      <vt:lpstr>Implement "First 90 Days" Retention Program</vt:lpstr>
      <vt:lpstr>Bundle Security + Support for First Year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afola</dc:creator>
  <cp:lastModifiedBy>WPS_1770649273</cp:lastModifiedBy>
  <cp:revision>5</cp:revision>
  <dcterms:created xsi:type="dcterms:W3CDTF">2025-07-23T00:59:00Z</dcterms:created>
  <dcterms:modified xsi:type="dcterms:W3CDTF">2026-04-27T09:51:01Z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9103BD496FB64534964FFFC988AC21D5_11</vt:lpwstr>
  </property>
  <property fmtid="{D5CDD505-2E9C-101B-9397-08002B2CF9AE}" pid="3" name="KSOProductBuildVer">
    <vt:lpwstr>1033-12.1.0.25242</vt:lpwstr>
  </property>
</Properties>
</file>